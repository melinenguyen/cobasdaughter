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embeddedFontLst>
    <p:embeddedFont>
      <p:font typeface="Sen"/>
      <p:regular r:id="rId18"/>
      <p:bold r:id="rId19"/>
    </p:embeddedFont>
    <p:embeddedFont>
      <p:font typeface="Playfair Display"/>
      <p:regular r:id="rId20"/>
      <p:italic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2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713232" y="960120"/>
            <a:ext cx="475488" cy="384048"/>
          </a:xfrm>
          <a:prstGeom prst="line">
            <a:avLst/>
          </a:prstGeom>
          <a:ln w="2857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88720" y="960120"/>
            <a:ext cx="475488" cy="384048"/>
          </a:xfrm>
          <a:prstGeom prst="line">
            <a:avLst/>
          </a:prstGeom>
          <a:ln w="2857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344168"/>
            <a:ext cx="694944" cy="0"/>
          </a:xfrm>
          <a:prstGeom prst="line">
            <a:avLst/>
          </a:prstGeom>
          <a:ln w="2857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91640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B6A188"/>
                </a:solidFill>
                <a:latin typeface="Sen"/>
              </a:rPr>
              <a:t>CÔBA'S DAUGHTER × GLOSSY  ·  BOARD PROPOSAL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515600" cy="1920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0" i="1">
                <a:solidFill>
                  <a:srgbClr val="FFF8E8"/>
                </a:solidFill>
                <a:latin typeface="Playfair Display"/>
              </a:rPr>
              <a:t>Two Rituals,</a:t>
            </a:r>
          </a:p>
          <a:p>
            <a:pPr algn="l">
              <a:lnSpc>
                <a:spcPct val="102000"/>
              </a:lnSpc>
            </a:pPr>
            <a:r>
              <a:rPr sz="4800" b="0" i="1">
                <a:solidFill>
                  <a:srgbClr val="FFF8E8"/>
                </a:solidFill>
                <a:latin typeface="Playfair Display"/>
              </a:rPr>
              <a:t>One September.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0584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FFF8E8"/>
                </a:solidFill>
                <a:latin typeface="Sen"/>
              </a:rPr>
              <a:t>Sep 11</a:t>
            </a:r>
            <a:r>
              <a:rPr sz="1400" b="0" i="0">
                <a:solidFill>
                  <a:srgbClr val="FFF8E8"/>
                </a:solidFill>
                <a:latin typeface="Sen"/>
              </a:rPr>
              <a:t>  —  Glossy Pop NYC gift bags · FIT, Manhattan</a:t>
            </a:r>
          </a:p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FFF8E8"/>
                </a:solidFill>
                <a:latin typeface="Sen"/>
              </a:rPr>
              <a:t>Sep 12</a:t>
            </a:r>
            <a:r>
              <a:rPr sz="1400" b="0" i="0">
                <a:solidFill>
                  <a:srgbClr val="FFF8E8"/>
                </a:solidFill>
                <a:latin typeface="Sen"/>
              </a:rPr>
              <a:t>  —  Game Day booth · Texas vs Ohio State · UT Austin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B6A188"/>
                </a:solidFill>
                <a:latin typeface="Sen"/>
              </a:rPr>
              <a:t>Total envelope $4,000 · products from our own Amazon warehouse · zero booth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01 · THE SEPTEMBER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863840" cy="1371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0E0E0E"/>
                </a:solidFill>
                <a:latin typeface="Sen"/>
              </a:rPr>
              <a:t>One weekend, two coasts —</a:t>
            </a:r>
          </a:p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0E0E0E"/>
                </a:solidFill>
                <a:latin typeface="Sen"/>
              </a:rPr>
              <a:t>one ships, one shows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0" y="685800"/>
            <a:ext cx="2743200" cy="19659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STADIUM / GAMEDAY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74320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85292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SEP 11 · NYC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2724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0E0E"/>
                </a:solidFill>
                <a:latin typeface="Sen"/>
              </a:rPr>
              <a:t>In the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93008"/>
            <a:ext cx="2615184" cy="2194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Glossy Pop at FIT — our products inside a “$500+ value” gift bag next to Fenty-tier brands. No staffing: assembled and delivered ahead.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4448" y="2743200"/>
            <a:ext cx="2615183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84448" y="285292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SEP 12 · AUSTIN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12724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0E0E"/>
                </a:solidFill>
                <a:latin typeface="Sen"/>
              </a:rPr>
              <a:t>At the booth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493008"/>
            <a:ext cx="2615184" cy="2194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Biggest home game of the season — 100K+ stadium, ESPN College GameDay all morning, 6:30 PM dusk kickoff.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3096" y="274320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3096" y="285292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12724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0E0E"/>
                </a:solidFill>
                <a:latin typeface="Sen"/>
              </a:rPr>
              <a:t>Austin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493008"/>
            <a:ext cx="2615184" cy="2194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Sao &amp; Eva fly in and handcarry small premium items; Emma runs Austin prep; a hired NYC helper assembles the bags.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81744" y="274320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81744" y="285292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SEP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312724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E0E0E"/>
                </a:solidFill>
                <a:latin typeface="Sen"/>
              </a:rPr>
              <a:t>Finale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1744" y="3493008"/>
            <a:ext cx="2615184" cy="2194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Endless Summer closes 3 days after game day — both events feed its last push and Q4 gifting.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02 · EVENT 1 — GLOSSY POP NYC · GIFT BAG SPONSORSHIP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What goes in: one gate, two plans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28800"/>
            <a:ext cx="5257800" cy="2651760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2103120"/>
            <a:ext cx="1947672" cy="237744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00" b="1" spc="160">
                <a:solidFill>
                  <a:srgbClr val="FFF8E8"/>
                </a:solidFill>
                <a:latin typeface="Sen"/>
              </a:rPr>
              <a:t>PLAN A · PREFERRED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470916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E0E0E"/>
                </a:solidFill>
                <a:latin typeface="Sen"/>
              </a:rPr>
              <a:t>New miniset — mini aloe · mini coffee</a:t>
            </a:r>
          </a:p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E0E0E"/>
                </a:solidFill>
                <a:latin typeface="Sen"/>
              </a:rPr>
              <a:t>scrub · new loofah scrub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10128"/>
            <a:ext cx="47091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A453E"/>
                </a:solidFill>
                <a:latin typeface="Sen"/>
              </a:rPr>
              <a:t>The refreshed trio as the discovery gift.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03320"/>
            <a:ext cx="4709160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13F21"/>
                </a:solidFill>
                <a:latin typeface="Sen"/>
              </a:rPr>
              <a:t>GATE: Buyer lead-time answer by Jul 24 — must land in</a:t>
            </a:r>
          </a:p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13F21"/>
                </a:solidFill>
                <a:latin typeface="Sen"/>
              </a:rPr>
              <a:t>NYC by Sep 4, or we fall to Plan 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5257800" cy="2651760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37960" y="2103120"/>
            <a:ext cx="1947672" cy="23774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00" b="1" spc="160">
                <a:solidFill>
                  <a:srgbClr val="FFF8E8"/>
                </a:solidFill>
                <a:latin typeface="Sen"/>
              </a:rPr>
              <a:t>PLAN B · READY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14600"/>
            <a:ext cx="47091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E0E0E"/>
                </a:solidFill>
                <a:latin typeface="Sen"/>
              </a:rPr>
              <a:t>Current miniset + full-size Aloe Gel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017520"/>
            <a:ext cx="4709160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Both pulled from our Amazon AWD warehouse — zero production, US-only shipping, no lead-time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931920"/>
            <a:ext cx="470916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13F21"/>
                </a:solidFill>
                <a:latin typeface="Sen"/>
              </a:rPr>
              <a:t>Default if the gate fails. Same bag, same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92040"/>
            <a:ext cx="107899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0E0E0E"/>
                </a:solidFill>
                <a:latin typeface="Sen"/>
              </a:rPr>
              <a:t>Every bag also carries a </a:t>
            </a:r>
            <a:r>
              <a:rPr sz="1250" b="1" i="0">
                <a:solidFill>
                  <a:srgbClr val="0E0E0E"/>
                </a:solidFill>
                <a:latin typeface="Sen"/>
              </a:rPr>
              <a:t>voucher booklet</a:t>
            </a:r>
            <a:r>
              <a:rPr sz="1250" b="0" i="0">
                <a:solidFill>
                  <a:srgbClr val="0E0E0E"/>
                </a:solidFill>
                <a:latin typeface="Sen"/>
              </a:rPr>
              <a:t> (unique codes → trackable to the bag) and the </a:t>
            </a:r>
            <a:r>
              <a:rPr sz="1250" b="1" i="0">
                <a:solidFill>
                  <a:srgbClr val="0E0E0E"/>
                </a:solidFill>
                <a:latin typeface="Sen"/>
              </a:rPr>
              <a:t>brand book</a:t>
            </a:r>
            <a:r>
              <a:rPr sz="1250" b="0" i="0">
                <a:solidFill>
                  <a:srgbClr val="0E0E0E"/>
                </a:solidFill>
                <a:latin typeface="Sen"/>
              </a:rPr>
              <a:t> — packed in a </a:t>
            </a:r>
            <a:r>
              <a:rPr sz="1250" b="1" i="0">
                <a:solidFill>
                  <a:srgbClr val="0E0E0E"/>
                </a:solidFill>
                <a:latin typeface="Sen"/>
              </a:rPr>
              <a:t>logo-printed canvas drawstring bag</a:t>
            </a:r>
            <a:r>
              <a:rPr sz="1250" b="0" i="0">
                <a:solidFill>
                  <a:srgbClr val="0E0E0E"/>
                </a:solidFill>
                <a:latin typeface="Sen"/>
              </a:rPr>
              <a:t> (~$3/unit, US supplier). Assembly: a hired NYC helper, photo-briefed; delivery to FIT per Glossy's load-in.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03 · THE BAG — CHEAP TO MAKE, PREMIUM TO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Canvas drawstring, four things inside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615184" cy="21945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DRAWSTRING BAG</a:t>
            </a:r>
          </a:p>
        </p:txBody>
      </p:sp>
      <p:sp>
        <p:nvSpPr>
          <p:cNvPr id="6" name="Rectangle 5"/>
          <p:cNvSpPr/>
          <p:nvPr/>
        </p:nvSpPr>
        <p:spPr>
          <a:xfrm>
            <a:off x="3584448" y="1783080"/>
            <a:ext cx="2615184" cy="21945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MINISET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83096" y="1783080"/>
            <a:ext cx="2615184" cy="21945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ALOE GEL</a:t>
            </a:r>
          </a:p>
        </p:txBody>
      </p:sp>
      <p:sp>
        <p:nvSpPr>
          <p:cNvPr id="8" name="Rectangle 7"/>
          <p:cNvSpPr/>
          <p:nvPr/>
        </p:nvSpPr>
        <p:spPr>
          <a:xfrm>
            <a:off x="9381744" y="1783080"/>
            <a:ext cx="2615184" cy="21945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VOUCHER + BRAND BOOK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4348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5445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E0E0E"/>
                </a:solidFill>
                <a:latin typeface="Sen"/>
              </a:rPr>
              <a:t>~$3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10328"/>
            <a:ext cx="261518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printed canvas drawstring bag — reusable, not landfill packaging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84448" y="4434840"/>
            <a:ext cx="2615183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84448" y="45445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E0E0E"/>
                </a:solidFill>
                <a:latin typeface="Sen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4910328"/>
            <a:ext cx="261518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bags planned — confirm final count with Glossy this month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3096" y="44348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83096" y="45445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E0E0E"/>
                </a:solidFill>
                <a:latin typeface="Sen"/>
              </a:rPr>
              <a:t>$6+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4910328"/>
            <a:ext cx="261518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per-bag paper cost stays under — booklet + brand book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81744" y="44348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81744" y="45445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E0E0E"/>
                </a:solidFill>
                <a:latin typeface="Sen"/>
              </a:rPr>
              <a:t>Sep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4910328"/>
            <a:ext cx="261518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assembled bags delivered to FIT, signed receipt + photos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2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B6A188"/>
                </a:solidFill>
                <a:latin typeface="Sen"/>
              </a:rPr>
              <a:t>04 · EVENT 2 — GAME DAY BOOTH, SIMPLIFIED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8E8"/>
                </a:solidFill>
                <a:latin typeface="Sen"/>
              </a:rPr>
              <a:t>Everything printed, one gift: </a:t>
            </a:r>
            <a:r>
              <a:rPr sz="2800" b="1" i="1">
                <a:solidFill>
                  <a:srgbClr val="FFF8E8"/>
                </a:solidFill>
                <a:latin typeface="Playfair Display"/>
              </a:rPr>
              <a:t>aloe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B6A188"/>
                </a:solidFill>
                <a:latin typeface="Sen"/>
              </a:rPr>
              <a:t>Xin xăm stays — the scheme is unchanged. All prep is a print run: paper fortune tickets + numbered wooden sticks. The only product on the table is Aloe Gel from our Amazon warehouse — the gift the Texas heat asks for.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331720"/>
            <a:ext cx="2615184" cy="0"/>
          </a:xfrm>
          <a:prstGeom prst="line">
            <a:avLst/>
          </a:prstGeom>
          <a:ln w="2222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404872"/>
            <a:ext cx="261518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B6A188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98064"/>
            <a:ext cx="261518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20">
                <a:solidFill>
                  <a:srgbClr val="FFF8E8"/>
                </a:solidFill>
                <a:latin typeface="Sen"/>
              </a:rPr>
              <a:t>SHAKE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72384"/>
            <a:ext cx="2615184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B6A188"/>
                </a:solidFill>
                <a:latin typeface="Sen"/>
              </a:rPr>
              <a:t>the cup of numbered sticks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4448" y="2331720"/>
            <a:ext cx="2615183" cy="0"/>
          </a:xfrm>
          <a:prstGeom prst="line">
            <a:avLst/>
          </a:prstGeom>
          <a:ln w="2222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84448" y="2404872"/>
            <a:ext cx="261518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B6A188"/>
                </a:solidFill>
                <a:latin typeface="Playfair Displa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798064"/>
            <a:ext cx="261518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20">
                <a:solidFill>
                  <a:srgbClr val="FFF8E8"/>
                </a:solidFill>
                <a:latin typeface="Sen"/>
              </a:rPr>
              <a:t>DRAW &amp; KEEP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072384"/>
            <a:ext cx="2615184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B6A188"/>
                </a:solidFill>
                <a:latin typeface="Sen"/>
              </a:rPr>
              <a:t>your number matches a printed fortune ticket — yours to take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3096" y="2331720"/>
            <a:ext cx="2615184" cy="0"/>
          </a:xfrm>
          <a:prstGeom prst="line">
            <a:avLst/>
          </a:prstGeom>
          <a:ln w="2222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3096" y="2404872"/>
            <a:ext cx="261518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B6A188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798064"/>
            <a:ext cx="261518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20">
                <a:solidFill>
                  <a:srgbClr val="FFF8E8"/>
                </a:solidFill>
                <a:latin typeface="Sen"/>
              </a:rPr>
              <a:t>SNAP &amp;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072384"/>
            <a:ext cx="2615184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B6A188"/>
                </a:solidFill>
                <a:latin typeface="Sen"/>
              </a:rPr>
              <a:t>photo with your ticket at the lantern corner → post IG, tag @cobasdaughter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81744" y="2331720"/>
            <a:ext cx="2615184" cy="0"/>
          </a:xfrm>
          <a:prstGeom prst="line">
            <a:avLst/>
          </a:prstGeom>
          <a:ln w="22225">
            <a:solidFill>
              <a:srgbClr val="B6A1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81744" y="2404872"/>
            <a:ext cx="261518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B6A188"/>
                </a:solidFill>
                <a:latin typeface="Playfair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798064"/>
            <a:ext cx="261518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20">
                <a:solidFill>
                  <a:srgbClr val="FFF8E8"/>
                </a:solidFill>
                <a:latin typeface="Sen"/>
              </a:rPr>
              <a:t>RECEIVE ALOE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1744" y="3072384"/>
            <a:ext cx="2615184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B6A188"/>
                </a:solidFill>
                <a:latin typeface="Sen"/>
              </a:rPr>
              <a:t>show the post, take home Aloe Gel — capped per day</a:t>
            </a:r>
          </a:p>
        </p:txBody>
      </p:sp>
      <p:pic>
        <p:nvPicPr>
          <p:cNvPr id="22" name="Picture 21" descr="ref_v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39"/>
            <a:ext cx="3502152" cy="1874519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85800" y="5888736"/>
            <a:ext cx="350215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XIN XĂM SHRINE · CHÙA GIÁC LÂM, SAIGON</a:t>
            </a:r>
          </a:p>
        </p:txBody>
      </p:sp>
      <p:pic>
        <p:nvPicPr>
          <p:cNvPr id="24" name="Picture 23" descr="ref_sti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3" y="3977639"/>
            <a:ext cx="3502152" cy="1874519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4329683" y="5888736"/>
            <a:ext cx="350215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THE CUP OF NUMBERED STICKS</a:t>
            </a:r>
          </a:p>
        </p:txBody>
      </p:sp>
      <p:pic>
        <p:nvPicPr>
          <p:cNvPr id="26" name="Picture 25" descr="ref_shak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3977639"/>
            <a:ext cx="3502152" cy="1874519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973567" y="5888736"/>
            <a:ext cx="350215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NUMBERED FORTUNES, MATCHED TO YOUR STICK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36208"/>
            <a:ext cx="107899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B6A188"/>
                </a:solidFill>
                <a:latin typeface="Sen"/>
              </a:rPr>
              <a:t>Cut for budget: coconut hydration station (−$1K) · paid creator fees ($0 cash — Glossy Campus package + gifting kits from existing merch). Booth styling — panels, rattan, lanterns, soap→scrub→aloe ritual display — is all existing stock.  ·  Reference photos: Wikimedia Commons, PD / CC BY-SA.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05 · THE FORTUNE, CURATED AMERICAN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Not a temple prop — </a:t>
            </a:r>
            <a:r>
              <a:rPr sz="2900" b="1" i="1">
                <a:solidFill>
                  <a:srgbClr val="0E0E0E"/>
                </a:solidFill>
                <a:latin typeface="Playfair Display"/>
              </a:rPr>
              <a:t>a lucky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72768"/>
            <a:ext cx="10424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53E"/>
                </a:solidFill>
                <a:latin typeface="Sen"/>
              </a:rPr>
              <a:t>Game-day America already believes in luck. We style the quẻ as a vintage stadium ticket — section, row and seat become your lucky numbers — written in our voice, numbered by Vietnamese numerology.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23160"/>
            <a:ext cx="3502152" cy="2331720"/>
          </a:xfrm>
          <a:prstGeom prst="rect">
            <a:avLst/>
          </a:prstGeom>
          <a:solidFill>
            <a:srgbClr val="0E0E0E"/>
          </a:solidFill>
          <a:ln w="15875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505456"/>
            <a:ext cx="3337560" cy="2167127"/>
          </a:xfrm>
          <a:prstGeom prst="rect">
            <a:avLst/>
          </a:prstGeom>
          <a:noFill/>
          <a:ln w="12700">
            <a:solidFill>
              <a:srgbClr val="8A817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642615"/>
            <a:ext cx="299008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80">
                <a:solidFill>
                  <a:srgbClr val="B6A188"/>
                </a:solidFill>
                <a:latin typeface="Sen"/>
              </a:rPr>
              <a:t>CÔ BA'S FORTUNES</a:t>
            </a:r>
            <a:r>
              <a:rPr sz="750" b="1" i="0" spc="180">
                <a:solidFill>
                  <a:srgbClr val="B6A188"/>
                </a:solidFill>
                <a:latin typeface="Sen"/>
              </a:rPr>
              <a:t>            ADMIT LUCK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935224"/>
            <a:ext cx="299008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FFF8E8"/>
                </a:solidFill>
                <a:latin typeface="Playfair Display"/>
              </a:rPr>
              <a:t>Victory favors the rested. The Horns take the fourth quarter — you take the morning after.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5064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8296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8296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68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9683" y="2423160"/>
            <a:ext cx="3502152" cy="2331720"/>
          </a:xfrm>
          <a:prstGeom prst="rect">
            <a:avLst/>
          </a:prstGeom>
          <a:solidFill>
            <a:srgbClr val="0E0E0E"/>
          </a:solidFill>
          <a:ln w="15875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1979" y="2505456"/>
            <a:ext cx="3337560" cy="2167127"/>
          </a:xfrm>
          <a:prstGeom prst="rect">
            <a:avLst/>
          </a:prstGeom>
          <a:noFill/>
          <a:ln w="12700">
            <a:solidFill>
              <a:srgbClr val="8A817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5716" y="2642615"/>
            <a:ext cx="299008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80">
                <a:solidFill>
                  <a:srgbClr val="B6A188"/>
                </a:solidFill>
                <a:latin typeface="Sen"/>
              </a:rPr>
              <a:t>CÔ BA'S FORTUNES</a:t>
            </a:r>
            <a:r>
              <a:rPr sz="750" b="1" i="0" spc="180">
                <a:solidFill>
                  <a:srgbClr val="B6A188"/>
                </a:solidFill>
                <a:latin typeface="Sen"/>
              </a:rPr>
              <a:t>            ADMIT LUCK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5716" y="2935224"/>
            <a:ext cx="299008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FFF8E8"/>
                </a:solidFill>
                <a:latin typeface="Playfair Display"/>
              </a:rPr>
              <a:t>Stay cool while 100,000 lose their minds, and fortune will find you in the noise.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5716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716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8948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8948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2180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2180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86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3567" y="2423160"/>
            <a:ext cx="3502152" cy="2331720"/>
          </a:xfrm>
          <a:prstGeom prst="rect">
            <a:avLst/>
          </a:prstGeom>
          <a:solidFill>
            <a:srgbClr val="0E0E0E"/>
          </a:solidFill>
          <a:ln w="15875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55863" y="2505456"/>
            <a:ext cx="3337560" cy="2167127"/>
          </a:xfrm>
          <a:prstGeom prst="rect">
            <a:avLst/>
          </a:prstGeom>
          <a:noFill/>
          <a:ln w="12700">
            <a:solidFill>
              <a:srgbClr val="8A817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9" y="2642615"/>
            <a:ext cx="299008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80">
                <a:solidFill>
                  <a:srgbClr val="B6A188"/>
                </a:solidFill>
                <a:latin typeface="Sen"/>
              </a:rPr>
              <a:t>CÔ BA'S FORTUNES</a:t>
            </a:r>
            <a:r>
              <a:rPr sz="750" b="1" i="0" spc="180">
                <a:solidFill>
                  <a:srgbClr val="B6A188"/>
                </a:solidFill>
                <a:latin typeface="Sen"/>
              </a:rPr>
              <a:t>            ADMIT LUCK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2935224"/>
            <a:ext cx="299008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FFF8E8"/>
                </a:solidFill>
                <a:latin typeface="Playfair Display"/>
              </a:rPr>
              <a:t>Double luck: your team wins the night, your skin wins the weekend.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42831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1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6063" y="4114800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140">
                <a:solidFill>
                  <a:srgbClr val="B6A188"/>
                </a:solidFill>
                <a:latin typeface="Sen"/>
              </a:rPr>
              <a:t>SEAT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6063" y="4297679"/>
            <a:ext cx="64008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8E8"/>
                </a:solidFill>
                <a:latin typeface="Sen"/>
              </a:rP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029200"/>
            <a:ext cx="1078992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453E"/>
                </a:solidFill>
                <a:latin typeface="Sen"/>
              </a:rPr>
              <a:t>~30 fortunes in the set · voucher QR on the back of every ticket (email signup → 15–20% code, valid Sep 12–30) · lucky numbers follow Vietnamese numerology — 68 lộc phát, 88 double luck.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06 · ONE LIST RUNS BOTH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The master checklist is live, not a slide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74519"/>
            <a:ext cx="5257800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984248"/>
            <a:ext cx="5257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LIVE CHECKLIST · EDIT IN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58568"/>
            <a:ext cx="52578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0E0E"/>
                </a:solidFill>
                <a:latin typeface="Sen"/>
              </a:rPr>
              <a:t>…/glossy-gameday/checklist.html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24327"/>
            <a:ext cx="5257800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Every line with qty × cost, owner, vendor, delivery route, due date. Click any cell to edit, add rows, check off, export CSV. Totals track the $4K envelope live.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1874519"/>
            <a:ext cx="5257800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63640" y="1984248"/>
            <a:ext cx="5257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WORKBOOK · FOR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258568"/>
            <a:ext cx="52578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0E0E"/>
                </a:solidFill>
                <a:latin typeface="Sen"/>
              </a:rPr>
              <a:t>glossy-september-ops.xlsx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624327"/>
            <a:ext cx="5257800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Same checklist with formulas + budget allocation + prep timeline + game-day run-of-show + marketing capture plan. Imports to Google Sheets as-is.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95344"/>
            <a:ext cx="10789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DELIVERY RULES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206240"/>
            <a:ext cx="10835640" cy="0"/>
          </a:xfrm>
          <a:prstGeom prst="line">
            <a:avLst/>
          </a:prstGeom>
          <a:ln w="19050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334255"/>
            <a:ext cx="265176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E0E0E"/>
                </a:solidFill>
                <a:latin typeface="Sen"/>
              </a:rPr>
              <a:t>US delivery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334255"/>
            <a:ext cx="7955279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AWD removals + US print/promo suppliers — no international freight, no customs risk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73168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901183"/>
            <a:ext cx="265176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E0E0E"/>
                </a:solidFill>
                <a:latin typeface="Sen"/>
              </a:rPr>
              <a:t>Handcarry — Sao &amp; Eva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901183"/>
            <a:ext cx="7955279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Small premium items only (brand books, silk, notes) in personal luggage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340096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68112"/>
            <a:ext cx="265176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E0E0E"/>
                </a:solidFill>
                <a:latin typeface="Sen"/>
              </a:rPr>
              <a:t>Two helpers, two cities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468112"/>
            <a:ext cx="7955279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NYC hire (by Aug 15) assembles + delivers bags · Emma preps and runs Austin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907024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07 · THE $4,000, ALLOCATED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E0E0E"/>
                </a:solidFill>
                <a:latin typeface="Sen"/>
              </a:rPr>
              <a:t>Half product, half execution —</a:t>
            </a:r>
          </a:p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E0E0E"/>
                </a:solidFill>
                <a:latin typeface="Sen"/>
              </a:rPr>
              <a:t>$2.0K cash out of pocket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7168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Product (AWD stock)</a:t>
            </a:r>
          </a:p>
        </p:txBody>
      </p:sp>
      <p:sp>
        <p:nvSpPr>
          <p:cNvPr id="6" name="Rectangle 5"/>
          <p:cNvSpPr/>
          <p:nvPr/>
        </p:nvSpPr>
        <p:spPr>
          <a:xfrm>
            <a:off x="3063240" y="2487168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3240" y="2487168"/>
            <a:ext cx="6320790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2487168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$1,975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1216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Labor (NYC + Emma)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871216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63240" y="2871216"/>
            <a:ext cx="1824228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2871216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$570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55264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Printing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3255264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3255264"/>
            <a:ext cx="1280160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255264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639312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Packaging (bags)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40" y="3639312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3639312"/>
            <a:ext cx="1152144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46920" y="3639312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$360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Contingency ~8%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4023360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63240" y="4023360"/>
            <a:ext cx="992124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4023360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$310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07408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Booth &amp; 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4407408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63240" y="4407408"/>
            <a:ext cx="752094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4407408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$235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791456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E0E0E"/>
                </a:solidFill>
                <a:latin typeface="Sen"/>
              </a:rPr>
              <a:t>Logistics (US only)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40" y="4791456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63240" y="4791456"/>
            <a:ext cx="480060" cy="219456"/>
          </a:xfrm>
          <a:prstGeom prst="rect">
            <a:avLst/>
          </a:prstGeom>
          <a:solidFill>
            <a:srgbClr val="713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6920" y="4791456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0E0E"/>
                </a:solidFill>
                <a:latin typeface="Sen"/>
              </a:rPr>
              <a:t>$150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175504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trike="sngStrike">
                <a:solidFill>
                  <a:srgbClr val="8A8171"/>
                </a:solidFill>
                <a:latin typeface="Sen"/>
              </a:rPr>
              <a:t>Coconut station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40" y="5175504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63240" y="5175504"/>
            <a:ext cx="3200400" cy="219456"/>
          </a:xfrm>
          <a:prstGeom prst="rect">
            <a:avLst/>
          </a:prstGeom>
          <a:solidFill>
            <a:srgbClr val="B6A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5175504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 strike="sngStrike">
                <a:solidFill>
                  <a:srgbClr val="8A8171"/>
                </a:solidFill>
                <a:latin typeface="Sen"/>
              </a:rPr>
              <a:t>−$1,000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59552"/>
            <a:ext cx="2286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trike="sngStrike">
                <a:solidFill>
                  <a:srgbClr val="8A8171"/>
                </a:solidFill>
                <a:latin typeface="Sen"/>
              </a:rPr>
              <a:t>Paid creator fees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5559552"/>
            <a:ext cx="6400800" cy="219456"/>
          </a:xfrm>
          <a:prstGeom prst="rect">
            <a:avLst/>
          </a:prstGeom>
          <a:solidFill>
            <a:srgbClr val="EFE8D6"/>
          </a:solidFill>
          <a:ln w="635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3240" y="5559552"/>
            <a:ext cx="1600200" cy="219456"/>
          </a:xfrm>
          <a:prstGeom prst="rect">
            <a:avLst/>
          </a:prstGeom>
          <a:solidFill>
            <a:srgbClr val="B6A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46920" y="5559552"/>
            <a:ext cx="14173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 strike="sngStrike">
                <a:solidFill>
                  <a:srgbClr val="8A8171"/>
                </a:solidFill>
                <a:latin typeface="Sen"/>
              </a:rPr>
              <a:t>−$500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080760"/>
            <a:ext cx="1078992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453E"/>
                </a:solidFill>
                <a:latin typeface="Sen"/>
              </a:rPr>
              <a:t>Total $4,000 · product unit costs are placeholder COGS pending Finance — if the board treats warehouse stock as inventory rather than event cash, the cash ask is ~$2,025. Struck lines show what was cut to fit the envelope.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08 · PEOPLE &amp; RUNWAY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Five people, eight weeks, no wasted motion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74519"/>
            <a:ext cx="10835640" cy="0"/>
          </a:xfrm>
          <a:prstGeom prst="line">
            <a:avLst/>
          </a:prstGeom>
          <a:ln w="19050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975103"/>
            <a:ext cx="23774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0E0E"/>
                </a:solidFill>
                <a:latin typeface="Sen"/>
              </a:rPr>
              <a:t>Sao &amp; Eva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75103"/>
            <a:ext cx="82296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Fly to Austin · handcarry small premium items · founder content + aloe station on game day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350008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0591"/>
            <a:ext cx="23774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0E0E"/>
                </a:solidFill>
                <a:latin typeface="Sen"/>
              </a:rPr>
              <a:t>Emma (Austin)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50591"/>
            <a:ext cx="82296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Rehired — print pickups, sticks, kit assembly, fortune table, load-in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25496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26079"/>
            <a:ext cx="23774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0E0E"/>
                </a:solidFill>
                <a:latin typeface="Sen"/>
              </a:rPr>
              <a:t>NYC helper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926079"/>
            <a:ext cx="82296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New hire by Aug 15 — bag assembly Sep 9–10, FIT delivery, photo proof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300984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01568"/>
            <a:ext cx="23774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0E0E"/>
                </a:solidFill>
                <a:latin typeface="Sen"/>
              </a:rPr>
              <a:t>Dylan (Glossy)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401568"/>
            <a:ext cx="82296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Booth specs + load-in + Campus creator roster · NYC bag count + FIT delivery window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776472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877056"/>
            <a:ext cx="237744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0E0E"/>
                </a:solidFill>
                <a:latin typeface="Sen"/>
              </a:rPr>
              <a:t>Buyer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877056"/>
            <a:ext cx="82296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53E"/>
                </a:solidFill>
                <a:latin typeface="Sen"/>
              </a:rPr>
              <a:t>THE gate: new-miniset lead time by Jul 24 · scarf qty by Jul 24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51960"/>
            <a:ext cx="10835640" cy="0"/>
          </a:xfrm>
          <a:prstGeom prst="line">
            <a:avLst/>
          </a:prstGeom>
          <a:ln w="9525">
            <a:solidFill>
              <a:srgbClr val="D8CC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" y="48920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0176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76088"/>
            <a:ext cx="2615184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Buyer gate · Glossy counts · fortune texts · orders placed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84448" y="4892040"/>
            <a:ext cx="2615183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84448" y="500176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AUG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5276088"/>
            <a:ext cx="2615184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NYC hire · AWD removals (Aug 17) · everything lands by Aug 28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83096" y="48920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83096" y="500176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SEP 9–11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5276088"/>
            <a:ext cx="2615184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Bags assembled + delivered NYC · Austin load-in prep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81744" y="48920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81744" y="5001768"/>
            <a:ext cx="26151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200">
                <a:solidFill>
                  <a:srgbClr val="713F21"/>
                </a:solidFill>
                <a:latin typeface="Sen"/>
              </a:rPr>
              <a:t>SEP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81744" y="5276088"/>
            <a:ext cx="2615184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Game day, GameDay morning → dusk kickoff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713F21"/>
                </a:solidFill>
                <a:latin typeface="Sen"/>
              </a:rPr>
              <a:t>09 · THE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E0E0E"/>
                </a:solidFill>
                <a:latin typeface="Sen"/>
              </a:rPr>
              <a:t>Two events, one content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0" y="685800"/>
            <a:ext cx="2743200" cy="1965960"/>
          </a:xfrm>
          <a:prstGeom prst="rect">
            <a:avLst/>
          </a:prstGeom>
          <a:solidFill>
            <a:srgbClr val="F3EAD8"/>
          </a:solidFill>
          <a:ln w="15875">
            <a:solidFill>
              <a:srgbClr val="B6A18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B6A188"/>
                </a:solidFill>
                <a:latin typeface="Sen"/>
              </a:rPr>
              <a:t>＋  </a:t>
            </a:r>
            <a:r>
              <a:rPr sz="800" b="1" spc="160">
                <a:solidFill>
                  <a:srgbClr val="B6A188"/>
                </a:solidFill>
                <a:latin typeface="Sen"/>
              </a:rPr>
              <a:t>IMAGE — MAY US-EVENT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777240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0E0E"/>
                </a:solidFill>
                <a:latin typeface="Sen"/>
              </a:rPr>
              <a:t>NYC: </a:t>
            </a:r>
            <a:r>
              <a:rPr sz="1250" b="0" i="0">
                <a:solidFill>
                  <a:srgbClr val="0E0E0E"/>
                </a:solidFill>
                <a:latin typeface="Sen"/>
              </a:rPr>
              <a:t>100 beauty-obsessed households open our ritual next to Fenty — every voucher booklet is coded, so redemptions trace back to the bag.  </a:t>
            </a:r>
            <a:r>
              <a:rPr sz="1250" b="1" i="0">
                <a:solidFill>
                  <a:srgbClr val="0E0E0E"/>
                </a:solidFill>
                <a:latin typeface="Sen"/>
              </a:rPr>
              <a:t>Austin: </a:t>
            </a:r>
            <a:r>
              <a:rPr sz="1250" b="0" i="0">
                <a:solidFill>
                  <a:srgbClr val="0E0E0E"/>
                </a:solidFill>
                <a:latin typeface="Sen"/>
              </a:rPr>
              <a:t>every gifted aloe is a tagged IG post we didn't brief, shot in a frame we art-directed — plus the founder reel format that did </a:t>
            </a:r>
            <a:r>
              <a:rPr sz="1250" b="1" i="0">
                <a:solidFill>
                  <a:srgbClr val="0E0E0E"/>
                </a:solidFill>
                <a:latin typeface="Sen"/>
              </a:rPr>
              <a:t>150.7K views</a:t>
            </a:r>
            <a:r>
              <a:rPr sz="1250" b="0" i="0">
                <a:solidFill>
                  <a:srgbClr val="0E0E0E"/>
                </a:solidFill>
                <a:latin typeface="Sen"/>
              </a:rPr>
              <a:t> in June, and UT creators from the Glossy Campus roster at no fee. May precedent: brand mentions </a:t>
            </a:r>
            <a:r>
              <a:rPr sz="1250" b="1" i="0">
                <a:solidFill>
                  <a:srgbClr val="0E0E0E"/>
                </a:solidFill>
                <a:latin typeface="Sen"/>
              </a:rPr>
              <a:t>12.5×</a:t>
            </a:r>
            <a:r>
              <a:rPr sz="1250" b="0" i="0">
                <a:solidFill>
                  <a:srgbClr val="0E0E0E"/>
                </a:solidFill>
                <a:latin typeface="Sen"/>
              </a:rPr>
              <a:t> in a month.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42062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43159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0E0E"/>
                </a:solidFill>
                <a:latin typeface="Sen"/>
              </a:rPr>
              <a:t>100+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81728"/>
            <a:ext cx="2615184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tagged IG posts &amp; stories (Austin)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4448" y="4206240"/>
            <a:ext cx="2615183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84448" y="43159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0E0E"/>
                </a:solidFill>
                <a:latin typeface="Sen"/>
              </a:rPr>
              <a:t>250–400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4681728"/>
            <a:ext cx="2615184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emails via fortune QR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83096" y="42062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83096" y="43159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0E0E"/>
                </a:solidFill>
                <a:latin typeface="Sen"/>
              </a:rPr>
              <a:t>2 codes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681728"/>
            <a:ext cx="2615184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glossypop · gameday — trackable to Sep 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4" y="4206240"/>
            <a:ext cx="2615184" cy="0"/>
          </a:xfrm>
          <a:prstGeom prst="line">
            <a:avLst/>
          </a:prstGeom>
          <a:ln w="22225">
            <a:solidFill>
              <a:srgbClr val="0E0E0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81744" y="4315968"/>
            <a:ext cx="26151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0E0E"/>
                </a:solidFill>
                <a:latin typeface="Sen"/>
              </a:rPr>
              <a:t>40–60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1744" y="4681728"/>
            <a:ext cx="2615184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A3833"/>
                </a:solidFill>
                <a:latin typeface="Sen"/>
              </a:rPr>
              <a:t>raw clips → ads + organic + Q3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2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240">
                <a:solidFill>
                  <a:srgbClr val="B6A188"/>
                </a:solidFill>
                <a:latin typeface="Sen"/>
              </a:rPr>
              <a:t>10 · DECISIONS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8E8"/>
                </a:solidFill>
                <a:latin typeface="Sen"/>
              </a:rPr>
              <a:t>Four answers unlock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2615184" cy="2103120"/>
          </a:xfrm>
          <a:prstGeom prst="rect">
            <a:avLst/>
          </a:prstGeom>
          <a:noFill/>
          <a:ln w="15875">
            <a:solidFill>
              <a:srgbClr val="B6A1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240280"/>
            <a:ext cx="2212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200">
                <a:solidFill>
                  <a:srgbClr val="B6A188"/>
                </a:solidFill>
                <a:latin typeface="Sen"/>
              </a:rPr>
              <a:t>BUYER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542032"/>
            <a:ext cx="221284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8E8"/>
                </a:solidFill>
                <a:latin typeface="Sen"/>
              </a:rPr>
              <a:t>New miniset + loofah lead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703320"/>
            <a:ext cx="2212848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6A188"/>
                </a:solidFill>
                <a:latin typeface="Sen"/>
              </a:rPr>
              <a:t>by Jul 24 — Plan A/B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4448" y="2011680"/>
            <a:ext cx="2615184" cy="2103120"/>
          </a:xfrm>
          <a:prstGeom prst="rect">
            <a:avLst/>
          </a:prstGeom>
          <a:noFill/>
          <a:ln w="15875">
            <a:solidFill>
              <a:srgbClr val="B6A1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85615" y="2240280"/>
            <a:ext cx="2212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200">
                <a:solidFill>
                  <a:srgbClr val="B6A188"/>
                </a:solidFill>
                <a:latin typeface="Sen"/>
              </a:rPr>
              <a:t>GLOSSY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5615" y="2542032"/>
            <a:ext cx="221284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8E8"/>
                </a:solidFill>
                <a:latin typeface="Sen"/>
              </a:rPr>
              <a:t>NYC bag count + FIT load-in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5" y="3703320"/>
            <a:ext cx="2212848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6A188"/>
                </a:solidFill>
                <a:latin typeface="Sen"/>
              </a:rPr>
              <a:t>by Jul 31 — drives product qty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83096" y="2011680"/>
            <a:ext cx="2615184" cy="2103120"/>
          </a:xfrm>
          <a:prstGeom prst="rect">
            <a:avLst/>
          </a:prstGeom>
          <a:noFill/>
          <a:ln w="15875">
            <a:solidFill>
              <a:srgbClr val="B6A1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84264" y="2240280"/>
            <a:ext cx="2212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200">
                <a:solidFill>
                  <a:srgbClr val="B6A188"/>
                </a:solidFill>
                <a:latin typeface="Sen"/>
              </a:rPr>
              <a:t>DYLAN · GLOSSY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4264" y="2542032"/>
            <a:ext cx="221284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8E8"/>
                </a:solidFill>
                <a:latin typeface="Sen"/>
              </a:rPr>
              <a:t>Booth specs + Campus creator roster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3703320"/>
            <a:ext cx="2212848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6A188"/>
                </a:solidFill>
                <a:latin typeface="Sen"/>
              </a:rPr>
              <a:t>by Jul 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81744" y="2011680"/>
            <a:ext cx="2615184" cy="2103120"/>
          </a:xfrm>
          <a:prstGeom prst="rect">
            <a:avLst/>
          </a:prstGeom>
          <a:noFill/>
          <a:ln w="15875">
            <a:solidFill>
              <a:srgbClr val="B6A1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2912" y="2240280"/>
            <a:ext cx="22128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200">
                <a:solidFill>
                  <a:srgbClr val="B6A188"/>
                </a:solidFill>
                <a:latin typeface="Sen"/>
              </a:rPr>
              <a:t>BRAND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2912" y="2542032"/>
            <a:ext cx="2212848" cy="10515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8E8"/>
                </a:solidFill>
                <a:latin typeface="Sen"/>
              </a:rPr>
              <a:t>Approve $4K split · hire NYC helper · confirm Emma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2912" y="3703320"/>
            <a:ext cx="2212848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6A188"/>
                </a:solidFill>
                <a:latin typeface="Sen"/>
              </a:rPr>
              <a:t>by Aug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B6A188"/>
                </a:solidFill>
                <a:latin typeface="Playfair Display"/>
              </a:rPr>
              <a:t>Rooted in Heritage. Empowered for Modernity.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