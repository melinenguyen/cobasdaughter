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embeddedFontLst>
    <p:embeddedFont>
      <p:font typeface="Sen"/>
      <p:regular r:id="rId20"/>
      <p:bold r:id="rId21"/>
    </p:embeddedFont>
    <p:embeddedFont>
      <p:font typeface="Playfair Display"/>
      <p:regular r:id="rId22"/>
      <p: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13232" y="868680"/>
            <a:ext cx="475488" cy="384048"/>
          </a:xfrm>
          <a:prstGeom prst="line">
            <a:avLst/>
          </a:prstGeom>
          <a:ln w="28575">
            <a:solidFill>
              <a:srgbClr val="B6A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88720" y="868680"/>
            <a:ext cx="475488" cy="384048"/>
          </a:xfrm>
          <a:prstGeom prst="line">
            <a:avLst/>
          </a:prstGeom>
          <a:ln w="28575">
            <a:solidFill>
              <a:srgbClr val="B6A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1252728"/>
            <a:ext cx="694944" cy="0"/>
          </a:xfrm>
          <a:prstGeom prst="line">
            <a:avLst/>
          </a:prstGeom>
          <a:ln w="28575">
            <a:solidFill>
              <a:srgbClr val="B6A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57276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B6A188"/>
                </a:solidFill>
                <a:latin typeface="Sen"/>
              </a:rPr>
              <a:t>CÔBA'S DAUGHTER × GLOSSY  ·  BOARD PROPOSAL V5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10515600" cy="1920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0" i="1">
                <a:solidFill>
                  <a:srgbClr val="FFF8E8"/>
                </a:solidFill>
                <a:latin typeface="Playfair Display"/>
              </a:rPr>
              <a:t>Two Rituals,</a:t>
            </a:r>
          </a:p>
          <a:p>
            <a:pPr algn="l">
              <a:lnSpc>
                <a:spcPct val="102000"/>
              </a:lnSpc>
            </a:pPr>
            <a:r>
              <a:rPr sz="4800" b="0" i="1">
                <a:solidFill>
                  <a:srgbClr val="FFF8E8"/>
                </a:solidFill>
                <a:latin typeface="Playfair Display"/>
              </a:rPr>
              <a:t>One September.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24528"/>
            <a:ext cx="10607040" cy="1645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8E8"/>
                </a:solidFill>
                <a:latin typeface="Sen"/>
              </a:rPr>
              <a:t>Sep 11</a:t>
            </a:r>
            <a:r>
              <a:rPr sz="1400" b="0" i="0">
                <a:solidFill>
                  <a:srgbClr val="FFF8E8"/>
                </a:solidFill>
                <a:latin typeface="Sen"/>
              </a:rPr>
              <a:t>  —  Glossy Pop NYC gift bags · FIT, Manhattan</a:t>
            </a:r>
          </a:p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8E8"/>
                </a:solidFill>
                <a:latin typeface="Sen"/>
              </a:rPr>
              <a:t>Sep 12</a:t>
            </a:r>
            <a:r>
              <a:rPr sz="1400" b="0" i="0">
                <a:solidFill>
                  <a:srgbClr val="FFF8E8"/>
                </a:solidFill>
                <a:latin typeface="Sen"/>
              </a:rPr>
              <a:t>  —  Game Day beauty experience · UT Austin  </a:t>
            </a:r>
            <a:r>
              <a:rPr sz="1200" b="0" i="0">
                <a:solidFill>
                  <a:srgbClr val="B6A188"/>
                </a:solidFill>
                <a:latin typeface="Sen"/>
              </a:rPr>
              <a:t>(recommended; Sep 19 open — Glossy to confirm)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B6A188"/>
                </a:solidFill>
                <a:latin typeface="Sen"/>
              </a:rPr>
              <a:t>Total envelope $4,000 · products from our own Amazon warehouse · zero booth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01 · THE SEPTEMBER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7863840" cy="1371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0E0E0E"/>
                </a:solidFill>
                <a:latin typeface="Sen"/>
              </a:rPr>
              <a:t>One weekend, two coasts —</a:t>
            </a:r>
          </a:p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0E0E0E"/>
                </a:solidFill>
                <a:latin typeface="Sen"/>
              </a:rPr>
              <a:t>one ships, one shows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685800"/>
            <a:ext cx="2743200" cy="1965960"/>
          </a:xfrm>
          <a:prstGeom prst="rect">
            <a:avLst/>
          </a:prstGeom>
          <a:solidFill>
            <a:srgbClr val="F3EAD8"/>
          </a:solidFill>
          <a:ln w="15875">
            <a:solidFill>
              <a:srgbClr val="B6A18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6A188"/>
                </a:solidFill>
                <a:latin typeface="Sen"/>
              </a:rPr>
              <a:t>＋  </a:t>
            </a:r>
            <a:r>
              <a:rPr sz="800" b="1" spc="160">
                <a:solidFill>
                  <a:srgbClr val="B6A188"/>
                </a:solidFill>
                <a:latin typeface="Sen"/>
              </a:rPr>
              <a:t>IMAGE — AI MOCK: POP-UP AT DUSK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7432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8529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SEP 11 · NYC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272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0E0E"/>
                </a:solidFill>
                <a:latin typeface="Sen"/>
              </a:rPr>
              <a:t>In the bag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93008"/>
            <a:ext cx="2615184" cy="23774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Glossy Pop at FIT — our products inside a “$500+ value” gift bag next to Fenty-tier brands. No staffing: assembled and delivered ahead.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743200"/>
            <a:ext cx="2615183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84448" y="28529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SEP 12 · AUSTIN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1272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0E0E"/>
                </a:solidFill>
                <a:latin typeface="Sen"/>
              </a:rPr>
              <a:t>The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493008"/>
            <a:ext cx="2615184" cy="23774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Glossy proposed a game-day beauty experience with curated UT creators. Our concept answers it: a get-ready ritual with luck at the center.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3096" y="27432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3096" y="28529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THE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1272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0E0E"/>
                </a:solidFill>
                <a:latin typeface="Sen"/>
              </a:rPr>
              <a:t>Sep 12 vs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493008"/>
            <a:ext cx="2615184" cy="23774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We recommend Sep 12 (vs Ohio State — GameDay stage, team already stateside). Sep 19 stays open; Dylan returns a formal package once we confirm.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81744" y="27432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81744" y="28529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SEP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31272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0E0E"/>
                </a:solidFill>
                <a:latin typeface="Sen"/>
              </a:rPr>
              <a:t>Finale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3493008"/>
            <a:ext cx="2615184" cy="23774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Endless Summer closes 3 days after game day — both events feed its last push and Q4 gifting.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02 · EVENT 1 — GLOSSY POP NYC · GIFT BAG SPONSORSHIP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E0E0E"/>
                </a:solidFill>
                <a:latin typeface="Sen"/>
              </a:rPr>
              <a:t>What goes in: one gate, two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5257800" cy="2651760"/>
          </a:xfrm>
          <a:prstGeom prst="rect">
            <a:avLst/>
          </a:prstGeom>
          <a:noFill/>
          <a:ln w="19050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2103120"/>
            <a:ext cx="1947672" cy="237744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 spc="160">
                <a:solidFill>
                  <a:srgbClr val="FFF8E8"/>
                </a:solidFill>
                <a:latin typeface="Sen"/>
              </a:rPr>
              <a:t>PLAN A · PREFERRED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70916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0E0E"/>
                </a:solidFill>
                <a:latin typeface="Sen"/>
              </a:rPr>
              <a:t>New miniset — mini aloe · mini coffee</a:t>
            </a:r>
          </a:p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0E0E"/>
                </a:solidFill>
                <a:latin typeface="Sen"/>
              </a:rPr>
              <a:t>scrub · new loofah scrub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10128"/>
            <a:ext cx="47091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453E"/>
                </a:solidFill>
                <a:latin typeface="Sen"/>
              </a:rPr>
              <a:t>The refreshed trio as the discovery gift.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4709160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13F21"/>
                </a:solidFill>
                <a:latin typeface="Sen"/>
              </a:rPr>
              <a:t>GATE: Buyer lead-time answer by Jul 24 — must land in</a:t>
            </a:r>
          </a:p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13F21"/>
                </a:solidFill>
                <a:latin typeface="Sen"/>
              </a:rPr>
              <a:t>NYC by Sep 4, or we fall to Plan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2651760"/>
          </a:xfrm>
          <a:prstGeom prst="rect">
            <a:avLst/>
          </a:prstGeom>
          <a:noFill/>
          <a:ln w="19050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2103120"/>
            <a:ext cx="1947672" cy="237744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 spc="160">
                <a:solidFill>
                  <a:srgbClr val="FFF8E8"/>
                </a:solidFill>
                <a:latin typeface="Sen"/>
              </a:rPr>
              <a:t>PLAN B · READY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70916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0E0E"/>
                </a:solidFill>
                <a:latin typeface="Sen"/>
              </a:rPr>
              <a:t>Current miniset + full-size Aloe Gel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17520"/>
            <a:ext cx="4709160" cy="777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53E"/>
                </a:solidFill>
                <a:latin typeface="Sen"/>
              </a:rPr>
              <a:t>Both pulled from our Amazon AWD warehouse — zero production, US-only shipping, no lead-time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31920"/>
            <a:ext cx="470916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13F21"/>
                </a:solidFill>
                <a:latin typeface="Sen"/>
              </a:rPr>
              <a:t>Default if the gate fails. Same bag, same 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107899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E0E0E"/>
                </a:solidFill>
                <a:latin typeface="Sen"/>
              </a:rPr>
              <a:t>Every bag also carries a </a:t>
            </a:r>
            <a:r>
              <a:rPr sz="1250" b="1" i="0">
                <a:solidFill>
                  <a:srgbClr val="0E0E0E"/>
                </a:solidFill>
                <a:latin typeface="Sen"/>
              </a:rPr>
              <a:t>voucher booklet</a:t>
            </a:r>
            <a:r>
              <a:rPr sz="1250" b="0" i="0">
                <a:solidFill>
                  <a:srgbClr val="0E0E0E"/>
                </a:solidFill>
                <a:latin typeface="Sen"/>
              </a:rPr>
              <a:t> (unique codes → trackable to the bag) and the </a:t>
            </a:r>
            <a:r>
              <a:rPr sz="1250" b="1" i="0">
                <a:solidFill>
                  <a:srgbClr val="0E0E0E"/>
                </a:solidFill>
                <a:latin typeface="Sen"/>
              </a:rPr>
              <a:t>brand book</a:t>
            </a:r>
            <a:r>
              <a:rPr sz="1250" b="0" i="0">
                <a:solidFill>
                  <a:srgbClr val="0E0E0E"/>
                </a:solidFill>
                <a:latin typeface="Sen"/>
              </a:rPr>
              <a:t> — packed in a </a:t>
            </a:r>
            <a:r>
              <a:rPr sz="1250" b="1" i="0">
                <a:solidFill>
                  <a:srgbClr val="0E0E0E"/>
                </a:solidFill>
                <a:latin typeface="Sen"/>
              </a:rPr>
              <a:t>logo-printed canvas drawstring bag</a:t>
            </a:r>
            <a:r>
              <a:rPr sz="1250" b="0" i="0">
                <a:solidFill>
                  <a:srgbClr val="0E0E0E"/>
                </a:solidFill>
                <a:latin typeface="Sen"/>
              </a:rPr>
              <a:t> (~$3/unit, US supplier). Assembly: a hired NYC helper, photo-briefed; delivery to FIT per Glossy's load-in.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03 · THE BAG — CHEAP TO MAKE, PREMIUM TO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E0E0E"/>
                </a:solidFill>
                <a:latin typeface="Sen"/>
              </a:rPr>
              <a:t>Canvas drawstring, four things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2615184" cy="2194560"/>
          </a:xfrm>
          <a:prstGeom prst="rect">
            <a:avLst/>
          </a:prstGeom>
          <a:solidFill>
            <a:srgbClr val="F3EAD8"/>
          </a:solidFill>
          <a:ln w="15875">
            <a:solidFill>
              <a:srgbClr val="B6A18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6A188"/>
                </a:solidFill>
                <a:latin typeface="Sen"/>
              </a:rPr>
              <a:t>＋  </a:t>
            </a:r>
            <a:r>
              <a:rPr sz="800" b="1" spc="160">
                <a:solidFill>
                  <a:srgbClr val="B6A188"/>
                </a:solidFill>
                <a:latin typeface="Sen"/>
              </a:rPr>
              <a:t>IMAGE — DRAWSTRING BAG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84448" y="1783080"/>
            <a:ext cx="2615184" cy="2194560"/>
          </a:xfrm>
          <a:prstGeom prst="rect">
            <a:avLst/>
          </a:prstGeom>
          <a:solidFill>
            <a:srgbClr val="F3EAD8"/>
          </a:solidFill>
          <a:ln w="15875">
            <a:solidFill>
              <a:srgbClr val="B6A18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6A188"/>
                </a:solidFill>
                <a:latin typeface="Sen"/>
              </a:rPr>
              <a:t>＋  </a:t>
            </a:r>
            <a:r>
              <a:rPr sz="800" b="1" spc="160">
                <a:solidFill>
                  <a:srgbClr val="B6A188"/>
                </a:solidFill>
                <a:latin typeface="Sen"/>
              </a:rPr>
              <a:t>IMAGE — MINISET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3096" y="1783080"/>
            <a:ext cx="2615184" cy="2194560"/>
          </a:xfrm>
          <a:prstGeom prst="rect">
            <a:avLst/>
          </a:prstGeom>
          <a:solidFill>
            <a:srgbClr val="F3EAD8"/>
          </a:solidFill>
          <a:ln w="15875">
            <a:solidFill>
              <a:srgbClr val="B6A18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6A188"/>
                </a:solidFill>
                <a:latin typeface="Sen"/>
              </a:rPr>
              <a:t>＋  </a:t>
            </a:r>
            <a:r>
              <a:rPr sz="800" b="1" spc="160">
                <a:solidFill>
                  <a:srgbClr val="B6A188"/>
                </a:solidFill>
                <a:latin typeface="Sen"/>
              </a:rPr>
              <a:t>IMAGE — ALOE GEL</a:t>
            </a:r>
          </a:p>
        </p:txBody>
      </p:sp>
      <p:sp>
        <p:nvSpPr>
          <p:cNvPr id="8" name="Rectangle 7"/>
          <p:cNvSpPr/>
          <p:nvPr/>
        </p:nvSpPr>
        <p:spPr>
          <a:xfrm>
            <a:off x="9381744" y="1783080"/>
            <a:ext cx="2615184" cy="2194560"/>
          </a:xfrm>
          <a:prstGeom prst="rect">
            <a:avLst/>
          </a:prstGeom>
          <a:solidFill>
            <a:srgbClr val="F3EAD8"/>
          </a:solidFill>
          <a:ln w="15875">
            <a:solidFill>
              <a:srgbClr val="B6A18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6A188"/>
                </a:solidFill>
                <a:latin typeface="Sen"/>
              </a:rPr>
              <a:t>＋  </a:t>
            </a:r>
            <a:r>
              <a:rPr sz="800" b="1" spc="160">
                <a:solidFill>
                  <a:srgbClr val="B6A188"/>
                </a:solidFill>
                <a:latin typeface="Sen"/>
              </a:rPr>
              <a:t>IMAGE — VOUCHER + BRAND BOOK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43484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54456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0E0E"/>
                </a:solidFill>
                <a:latin typeface="Sen"/>
              </a:rPr>
              <a:t>~$3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1032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printed canvas drawstring bag — reusable, not landfill packaging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4448" y="4434840"/>
            <a:ext cx="2615183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84448" y="454456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0E0E"/>
                </a:solidFill>
                <a:latin typeface="Sen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491032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bags planned — confirm final count with Glossy this month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83096" y="443484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83096" y="454456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0E0E"/>
                </a:solidFill>
                <a:latin typeface="Sen"/>
              </a:rPr>
              <a:t>$6+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491032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per-bag paper cost stays under — booklet + brand 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81744" y="443484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81744" y="454456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0E0E"/>
                </a:solidFill>
                <a:latin typeface="Sen"/>
              </a:rPr>
              <a:t>Sep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491032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assembled bags delivered to FIT, signed receipt + photos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B6A188"/>
                </a:solidFill>
                <a:latin typeface="Sen"/>
              </a:rPr>
              <a:t>04 · EVENT 2 —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0" i="1">
                <a:solidFill>
                  <a:srgbClr val="FFF8E8"/>
                </a:solidFill>
                <a:latin typeface="Playfair Display"/>
              </a:rPr>
              <a:t>Game day is already a ritual.</a:t>
            </a:r>
          </a:p>
          <a:p>
            <a:pPr algn="l">
              <a:lnSpc>
                <a:spcPct val="106000"/>
              </a:lnSpc>
            </a:pPr>
            <a:r>
              <a:rPr sz="3200" b="0" i="1">
                <a:solidFill>
                  <a:srgbClr val="FFF8E8"/>
                </a:solidFill>
                <a:latin typeface="Playfair Display"/>
              </a:rPr>
              <a:t>We own the getting-ready.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2743200"/>
            <a:ext cx="3529583" cy="0"/>
          </a:xfrm>
          <a:prstGeom prst="line">
            <a:avLst/>
          </a:prstGeom>
          <a:ln w="22225">
            <a:solidFill>
              <a:srgbClr val="B6A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852928"/>
            <a:ext cx="35295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B6A188"/>
                </a:solidFill>
                <a:latin typeface="Sen"/>
              </a:rPr>
              <a:t>THE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3529584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B6A188"/>
                </a:solidFill>
                <a:latin typeface="Sen"/>
              </a:rPr>
              <a:t>America's most ritual-dense day — lucky jerseys, tailgate traditions, superstitions nobody will break. Fans practice ritual every Saturday; they just don't call it that.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98848" y="2743200"/>
            <a:ext cx="3529583" cy="0"/>
          </a:xfrm>
          <a:prstGeom prst="line">
            <a:avLst/>
          </a:prstGeom>
          <a:ln w="22225">
            <a:solidFill>
              <a:srgbClr val="B6A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98848" y="2852928"/>
            <a:ext cx="35295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B6A188"/>
                </a:solidFill>
                <a:latin typeface="Sen"/>
              </a:rPr>
              <a:t>THE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3127248"/>
            <a:ext cx="3529584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B6A188"/>
                </a:solidFill>
                <a:latin typeface="Sen"/>
              </a:rPr>
              <a:t>Getting ready is the ritual beauty already owns — GRWM is the defining Gen Z format, and game day has its own genre. Glossy's “get-ready experience” ask is our native language.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11896" y="2743200"/>
            <a:ext cx="3529584" cy="0"/>
          </a:xfrm>
          <a:prstGeom prst="line">
            <a:avLst/>
          </a:prstGeom>
          <a:ln w="22225">
            <a:solidFill>
              <a:srgbClr val="B6A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11896" y="2852928"/>
            <a:ext cx="35295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B6A188"/>
                </a:solidFill>
                <a:latin typeface="Sen"/>
              </a:rPr>
              <a:t>THE CENTERPIECE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3127248"/>
            <a:ext cx="3529584" cy="1554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B6A188"/>
                </a:solidFill>
                <a:latin typeface="Sen"/>
              </a:rPr>
              <a:t>Xin xăm — draw your fortune before the big game. Authentic to our heritage, instantly legible to any fan who wants luck tonight, and a built-in story beat for every GRWM video.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92040"/>
            <a:ext cx="10835640" cy="1234440"/>
          </a:xfrm>
          <a:prstGeom prst="rect">
            <a:avLst/>
          </a:prstGeom>
          <a:solidFill>
            <a:srgbClr val="3F2D24"/>
          </a:solidFill>
          <a:ln w="6350">
            <a:solidFill>
              <a:srgbClr val="3F2D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892040"/>
            <a:ext cx="41148" cy="1234440"/>
          </a:xfrm>
          <a:prstGeom prst="rect">
            <a:avLst/>
          </a:prstGeom>
          <a:solidFill>
            <a:srgbClr val="B6A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020055"/>
            <a:ext cx="104333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>
                <a:solidFill>
                  <a:srgbClr val="B6A188"/>
                </a:solidFill>
                <a:latin typeface="Sen"/>
              </a:rPr>
              <a:t>THE POINT, FOR THE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276088"/>
            <a:ext cx="10433304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FFF8E8"/>
                </a:solidFill>
                <a:latin typeface="Sen"/>
              </a:rPr>
              <a:t>Glossy asked for a “game-day beauty experience.” This is that — but with a centerpiece only we can bring. </a:t>
            </a:r>
            <a:r>
              <a:rPr sz="1150" b="1" i="0">
                <a:solidFill>
                  <a:srgbClr val="FFF8E8"/>
                </a:solidFill>
                <a:latin typeface="Sen"/>
              </a:rPr>
              <a:t>The intersection isn't a stretch; it's a translation. </a:t>
            </a:r>
            <a:r>
              <a:rPr sz="1050" b="0" i="1">
                <a:solidFill>
                  <a:srgbClr val="FFF8E8"/>
                </a:solidFill>
                <a:latin typeface="Sen"/>
              </a:rPr>
              <a:t>Full external concept shared with Dylan: /glossy-gameday/concept.html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05 · THE EXPERIENCE — ONE RITUAL, TWO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0E0E"/>
                </a:solidFill>
                <a:latin typeface="Sen"/>
              </a:rPr>
              <a:t>Get ready. Get lucky.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764792"/>
            <a:ext cx="2615184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13F21"/>
                </a:solidFill>
                <a:latin typeface="Playfair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E0E0E"/>
                </a:solidFill>
                <a:latin typeface="Sen"/>
              </a:rPr>
              <a:t>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2615184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A3833"/>
                </a:solidFill>
                <a:latin typeface="Sen"/>
              </a:rPr>
              <a:t>chilled Aloe Gel on wrists and neck — functional beauty in 93°F heat, the hero product doing its actual job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4448" y="1691640"/>
            <a:ext cx="2615183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84448" y="1764792"/>
            <a:ext cx="2615184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13F21"/>
                </a:solidFill>
                <a:latin typeface="Playfai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12140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E0E0E"/>
                </a:solidFill>
                <a:latin typeface="Sen"/>
              </a:rPr>
              <a:t>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377440"/>
            <a:ext cx="2615184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A3833"/>
                </a:solidFill>
                <a:latin typeface="Sen"/>
              </a:rPr>
              <a:t>silk-scarf braid bar — game-day hair in terracotta silk that reads burnt orange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83096" y="169164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83096" y="1764792"/>
            <a:ext cx="2615184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13F21"/>
                </a:solidFill>
                <a:latin typeface="Playfair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12140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E0E0E"/>
                </a:solidFill>
                <a:latin typeface="Sen"/>
              </a:rPr>
              <a:t>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77440"/>
            <a:ext cx="2615184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A3833"/>
                </a:solidFill>
                <a:latin typeface="Sen"/>
              </a:rPr>
              <a:t>the xin xăm moment — shake the cup, draw your stick, receive your lucky ticket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81744" y="169164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81744" y="1764792"/>
            <a:ext cx="2615184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13F21"/>
                </a:solidFill>
                <a:latin typeface="Playfair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212140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E0E0E"/>
                </a:solidFill>
                <a:latin typeface="Sen"/>
              </a:rPr>
              <a:t>KEEP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377440"/>
            <a:ext cx="2615184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A3833"/>
                </a:solidFill>
                <a:latin typeface="Sen"/>
              </a:rPr>
              <a:t>the ticket travels into the stadium; posts tagged @cobasdaughter earn the Aloe Gel gift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5257800" cy="1691640"/>
          </a:xfrm>
          <a:prstGeom prst="rect">
            <a:avLst/>
          </a:prstGeom>
          <a:noFill/>
          <a:ln w="19050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3639312"/>
            <a:ext cx="2715768" cy="237744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 spc="160">
                <a:solidFill>
                  <a:srgbClr val="FFF8E8"/>
                </a:solidFill>
                <a:latin typeface="Sen"/>
              </a:rPr>
              <a:t>FORMAT A · GET-READY SALON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86784"/>
            <a:ext cx="47091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0E0E"/>
                </a:solidFill>
                <a:latin typeface="Sen"/>
              </a:rPr>
              <a:t>Curated UT creators, founder-hosted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15968"/>
            <a:ext cx="4709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A3833"/>
                </a:solidFill>
                <a:latin typeface="Sen"/>
              </a:rPr>
              <a:t>Glossy's model: intimate pre-game get-ready with the creator guest list from their Campus roster — ritual display, braid bar, fortunes as the finale, kits to take home. Sao hosts.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429000"/>
            <a:ext cx="5257800" cy="1691640"/>
          </a:xfrm>
          <a:prstGeom prst="rect">
            <a:avLst/>
          </a:prstGeom>
          <a:noFill/>
          <a:ln w="19050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3639312"/>
            <a:ext cx="2427732" cy="237744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 spc="160">
                <a:solidFill>
                  <a:srgbClr val="FFF8E8"/>
                </a:solidFill>
                <a:latin typeface="Sen"/>
              </a:rPr>
              <a:t>FORMAT B · PUBLIC BOOTH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86784"/>
            <a:ext cx="47091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0E0E"/>
                </a:solidFill>
                <a:latin typeface="Sen"/>
              </a:rPr>
              <a:t>The same ritual, opened to the crowd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315968"/>
            <a:ext cx="4709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A3833"/>
                </a:solidFill>
                <a:latin typeface="Sen"/>
              </a:rPr>
              <a:t>Draw a fortune, keep the ticket, post it, take home aloe. Built for volume and dusk light. The formats stack: salon in the morning, booth through the afternoon.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349240"/>
            <a:ext cx="10835640" cy="1051560"/>
          </a:xfrm>
          <a:prstGeom prst="rect">
            <a:avLst/>
          </a:prstGeom>
          <a:solidFill>
            <a:srgbClr val="F6EEDC"/>
          </a:solidFill>
          <a:ln w="6350">
            <a:solidFill>
              <a:srgbClr val="F6E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349240"/>
            <a:ext cx="41148" cy="1051560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477255"/>
            <a:ext cx="104333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>
                <a:solidFill>
                  <a:srgbClr val="713F21"/>
                </a:solidFill>
                <a:latin typeface="Sen"/>
              </a:rPr>
              <a:t>STYLING RULE — WESTERN POLISH, MODERN TOUCH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733288"/>
            <a:ext cx="10433304" cy="54863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0E0E"/>
                </a:solidFill>
                <a:latin typeface="Sen"/>
              </a:rPr>
              <a:t>Heritage lives in the objects — rattan, silk, amber glass, wooden sticks. Modernity lives in the scene. </a:t>
            </a:r>
            <a:r>
              <a:rPr sz="1150" b="0" i="0">
                <a:solidFill>
                  <a:srgbClr val="0E0E0E"/>
                </a:solidFill>
                <a:latin typeface="Sen"/>
              </a:rPr>
              <a:t>No temple staging, no costume: a high-end body-care pop-up that happens to tell fortunes.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06 · THE FORTUNE, CURATED AMERICAN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0E0E"/>
                </a:solidFill>
                <a:latin typeface="Sen"/>
              </a:rPr>
              <a:t>Not a temple prop — </a:t>
            </a:r>
            <a:r>
              <a:rPr sz="2700" b="1" i="1">
                <a:solidFill>
                  <a:srgbClr val="0E0E0E"/>
                </a:solidFill>
                <a:latin typeface="Playfair Display"/>
              </a:rPr>
              <a:t>a lucky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The </a:t>
            </a:r>
            <a:r>
              <a:rPr sz="1050" b="0" i="1">
                <a:solidFill>
                  <a:srgbClr val="3A3833"/>
                </a:solidFill>
                <a:latin typeface="Playfair Display"/>
              </a:rPr>
              <a:t>quẻ</a:t>
            </a:r>
            <a:r>
              <a:rPr sz="1050" b="0" i="0">
                <a:solidFill>
                  <a:srgbClr val="3A3833"/>
                </a:solidFill>
                <a:latin typeface="Sen"/>
              </a:rPr>
              <a:t> styled as a vintage stadium ticket — section, row and seat become lucky numbers, written in our voice, numbered by Vietnamese numerology. All production: one print run + numbered sticks.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3502152" cy="1965960"/>
          </a:xfrm>
          <a:prstGeom prst="rect">
            <a:avLst/>
          </a:prstGeom>
          <a:solidFill>
            <a:srgbClr val="0E0E0E"/>
          </a:solidFill>
          <a:ln w="15875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231136"/>
            <a:ext cx="3337560" cy="1801368"/>
          </a:xfrm>
          <a:prstGeom prst="rect">
            <a:avLst/>
          </a:prstGeom>
          <a:noFill/>
          <a:ln w="12700">
            <a:solidFill>
              <a:srgbClr val="8A817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299008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70">
                <a:solidFill>
                  <a:srgbClr val="B6A188"/>
                </a:solidFill>
                <a:latin typeface="Sen"/>
              </a:rPr>
              <a:t>CÔ BA'S FORTUNES</a:t>
            </a:r>
            <a:r>
              <a:rPr sz="700" b="1" i="0" spc="170">
                <a:solidFill>
                  <a:srgbClr val="B6A188"/>
                </a:solidFill>
                <a:latin typeface="Sen"/>
              </a:rPr>
              <a:t>           ADMIT LUCK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87752"/>
            <a:ext cx="2990088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FFF8E8"/>
                </a:solidFill>
                <a:latin typeface="Playfair Display"/>
              </a:rPr>
              <a:t>Victory favors the rested. The Horns take the fourth quarter — you take the morning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SEAT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9683" y="2148840"/>
            <a:ext cx="3502152" cy="1965960"/>
          </a:xfrm>
          <a:prstGeom prst="rect">
            <a:avLst/>
          </a:prstGeom>
          <a:solidFill>
            <a:srgbClr val="0E0E0E"/>
          </a:solidFill>
          <a:ln w="15875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1979" y="2231136"/>
            <a:ext cx="3337560" cy="1801368"/>
          </a:xfrm>
          <a:prstGeom prst="rect">
            <a:avLst/>
          </a:prstGeom>
          <a:noFill/>
          <a:ln w="12700">
            <a:solidFill>
              <a:srgbClr val="8A817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5716" y="2331720"/>
            <a:ext cx="299008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70">
                <a:solidFill>
                  <a:srgbClr val="B6A188"/>
                </a:solidFill>
                <a:latin typeface="Sen"/>
              </a:rPr>
              <a:t>CÔ BA'S FORTUNES</a:t>
            </a:r>
            <a:r>
              <a:rPr sz="700" b="1" i="0" spc="170">
                <a:solidFill>
                  <a:srgbClr val="B6A188"/>
                </a:solidFill>
                <a:latin typeface="Sen"/>
              </a:rPr>
              <a:t>           ADMIT LUCK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716" y="2587752"/>
            <a:ext cx="2990088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FFF8E8"/>
                </a:solidFill>
                <a:latin typeface="Playfair Display"/>
              </a:rPr>
              <a:t>Stay cool while 100,000 lose their minds, and fortune will find you in the noise.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5716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5716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1516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1516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7316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SEAT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7316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86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3567" y="2148840"/>
            <a:ext cx="3502152" cy="1965960"/>
          </a:xfrm>
          <a:prstGeom prst="rect">
            <a:avLst/>
          </a:prstGeom>
          <a:solidFill>
            <a:srgbClr val="0E0E0E"/>
          </a:solidFill>
          <a:ln w="15875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5863" y="2231136"/>
            <a:ext cx="3337560" cy="1801368"/>
          </a:xfrm>
          <a:prstGeom prst="rect">
            <a:avLst/>
          </a:prstGeom>
          <a:noFill/>
          <a:ln w="12700">
            <a:solidFill>
              <a:srgbClr val="8A817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2331720"/>
            <a:ext cx="299008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70">
                <a:solidFill>
                  <a:srgbClr val="B6A188"/>
                </a:solidFill>
                <a:latin typeface="Sen"/>
              </a:rPr>
              <a:t>CÔ BA'S FORTUNES</a:t>
            </a:r>
            <a:r>
              <a:rPr sz="700" b="1" i="0" spc="170">
                <a:solidFill>
                  <a:srgbClr val="B6A188"/>
                </a:solidFill>
                <a:latin typeface="Sen"/>
              </a:rPr>
              <a:t>           ADMIT LUCK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2587752"/>
            <a:ext cx="2990088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FFF8E8"/>
                </a:solidFill>
                <a:latin typeface="Playfair Display"/>
              </a:rPr>
              <a:t>Double luck: your team wins the night, your skin wins the weekend.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SEC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399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199" y="3538728"/>
            <a:ext cx="640080" cy="1463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40">
                <a:solidFill>
                  <a:srgbClr val="B6A188"/>
                </a:solidFill>
                <a:latin typeface="Sen"/>
              </a:rPr>
              <a:t>SEAT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199" y="3703320"/>
            <a:ext cx="6400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8E8"/>
                </a:solidFill>
                <a:latin typeface="Sen"/>
              </a:rPr>
              <a:t>79</a:t>
            </a:r>
          </a:p>
        </p:txBody>
      </p:sp>
      <p:pic>
        <p:nvPicPr>
          <p:cNvPr id="36" name="Picture 35" descr="ref_v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43400"/>
            <a:ext cx="3502152" cy="1691640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685800" y="6071616"/>
            <a:ext cx="3502152" cy="16459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30">
                <a:solidFill>
                  <a:srgbClr val="8A8171"/>
                </a:solidFill>
                <a:latin typeface="Sen"/>
              </a:rPr>
              <a:t>XIN XĂM SHRINE · CHÙA GIÁC LÂM, SAIGON</a:t>
            </a:r>
          </a:p>
        </p:txBody>
      </p:sp>
      <p:pic>
        <p:nvPicPr>
          <p:cNvPr id="38" name="Picture 37" descr="ref_stic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3" y="4343400"/>
            <a:ext cx="3502152" cy="1691640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4329683" y="6071616"/>
            <a:ext cx="3502152" cy="16459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30">
                <a:solidFill>
                  <a:srgbClr val="8A8171"/>
                </a:solidFill>
                <a:latin typeface="Sen"/>
              </a:rPr>
              <a:t>THE CUP OF NUMBERED STICKS</a:t>
            </a:r>
          </a:p>
        </p:txBody>
      </p:sp>
      <p:pic>
        <p:nvPicPr>
          <p:cNvPr id="40" name="Picture 39" descr="ref_shak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343400"/>
            <a:ext cx="3502152" cy="1691640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7973567" y="6071616"/>
            <a:ext cx="3502152" cy="16459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130">
                <a:solidFill>
                  <a:srgbClr val="8A8171"/>
                </a:solidFill>
                <a:latin typeface="Sen"/>
              </a:rPr>
              <a:t>NUMBERED FORTUNES, MATCHED TO YOUR STICK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171"/>
                </a:solidFill>
                <a:latin typeface="Sen"/>
              </a:rPr>
              <a:t>Origin references (the real ritual) — event styling is modern-western per the rule on the previous slide. Photos: Wikimedia Commons, PD / CC BY-SA.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07 · THE DAY,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E0E0E"/>
                </a:solidFill>
                <a:latin typeface="Sen"/>
              </a:rPr>
              <a:t>Salon in the morning, booth till kickoff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8288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385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10:00–13:00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0E0E"/>
                </a:solidFill>
                <a:latin typeface="Sen"/>
              </a:rPr>
              <a:t>Get-ready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2615184" cy="1371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Curated creators in waves · COOL → STYLE → DRAW → KEEP · Sao hosts, kits gifted, content shot in the frame we 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4448" y="1828800"/>
            <a:ext cx="2615183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84448" y="19385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13:00–17:00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2128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0E0E"/>
                </a:solidFill>
                <a:latin typeface="Sen"/>
              </a:rPr>
              <a:t>Booth opens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78608"/>
            <a:ext cx="2615184" cy="1371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Public fortune draws + aloe station through peak heat · GameDay crowd all afternoon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83096" y="18288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83096" y="19385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17:00–18:30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2128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0E0E"/>
                </a:solidFill>
                <a:latin typeface="Sen"/>
              </a:rPr>
              <a:t>Golden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578608"/>
            <a:ext cx="2615184" cy="1371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Pendant lights on, best light of the day · hourly scarf draw holds the crowd · founder reel closes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81744" y="18288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81744" y="19385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18:30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221284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0E0E"/>
                </a:solidFill>
                <a:latin typeface="Sen"/>
              </a:rPr>
              <a:t>Kickoff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578608"/>
            <a:ext cx="2615184" cy="1371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Last draws + tagged-post aloe gifts · teardown or stay per Dylan's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50791"/>
            <a:ext cx="107899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WHO RUNS WHAT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343400"/>
            <a:ext cx="10835640" cy="0"/>
          </a:xfrm>
          <a:prstGeom prst="line">
            <a:avLst/>
          </a:prstGeom>
          <a:ln w="19050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434840"/>
            <a:ext cx="237744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Sao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434840"/>
            <a:ext cx="82296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Salon host + founder content — the face of the get-ready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782312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873752"/>
            <a:ext cx="237744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Eva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73752"/>
            <a:ext cx="82296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Aloe station + styling support, salon and booth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5221224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312664"/>
            <a:ext cx="237744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Emma (Austin)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312664"/>
            <a:ext cx="82296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Fortune table + prep, print pickups, load-in/out, stock counts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5660136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5751576"/>
            <a:ext cx="237744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Dylan · Glossy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751576"/>
            <a:ext cx="82296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Space/footprint, creator guest list, load-in windows — his package defines Format A's room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099048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08 · ONE LIST RUNS BOTH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E0E0E"/>
                </a:solidFill>
                <a:latin typeface="Sen"/>
              </a:rPr>
              <a:t>The master checklist is live, not a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874519"/>
            <a:ext cx="5257800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84248"/>
            <a:ext cx="5257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LIVE CHECKLIST · EDIT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58568"/>
            <a:ext cx="52578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0E0E"/>
                </a:solidFill>
                <a:latin typeface="Sen"/>
              </a:rPr>
              <a:t>…/glossy-gameday/checklist.html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24327"/>
            <a:ext cx="5257800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Every line with qty × cost, owner, vendor, delivery route, due date. Click any cell to edit, add rows, check off, export CSV. Totals track the $4K envelope live.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1874519"/>
            <a:ext cx="5257800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63640" y="1984248"/>
            <a:ext cx="5257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WORKBOOK · FOR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58568"/>
            <a:ext cx="52578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0E0E"/>
                </a:solidFill>
                <a:latin typeface="Sen"/>
              </a:rPr>
              <a:t>glossy-september-ops.xlsx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24327"/>
            <a:ext cx="5257800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Same checklist with formulas + budget allocation + prep timeline + salon/booth run-of-show + marketing capture plan. Imports to Google Sheets as-is.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95344"/>
            <a:ext cx="107899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DELIVERY RULES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206240"/>
            <a:ext cx="10835640" cy="0"/>
          </a:xfrm>
          <a:prstGeom prst="line">
            <a:avLst/>
          </a:prstGeom>
          <a:ln w="19050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334255"/>
            <a:ext cx="265176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E0E0E"/>
                </a:solidFill>
                <a:latin typeface="Sen"/>
              </a:rPr>
              <a:t>US delivery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334255"/>
            <a:ext cx="7955279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833"/>
                </a:solidFill>
                <a:latin typeface="Sen"/>
              </a:rPr>
              <a:t>AWD removals + US print/promo suppliers — no international freight, no customs risk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773168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901183"/>
            <a:ext cx="265176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E0E0E"/>
                </a:solidFill>
                <a:latin typeface="Sen"/>
              </a:rPr>
              <a:t>Handcarry — Sao &amp; Eva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901183"/>
            <a:ext cx="7955279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833"/>
                </a:solidFill>
                <a:latin typeface="Sen"/>
              </a:rPr>
              <a:t>Small premium items only (brand books, silk, notes) in personal luggage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340096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468112"/>
            <a:ext cx="265176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E0E0E"/>
                </a:solidFill>
                <a:latin typeface="Sen"/>
              </a:rPr>
              <a:t>Two helpers, two cities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468112"/>
            <a:ext cx="7955279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833"/>
                </a:solidFill>
                <a:latin typeface="Sen"/>
              </a:rPr>
              <a:t>NYC hire (by Aug 15) assembles + delivers bags · Emma preps and runs Austin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907024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09 · THE $4,000, ALLOCATED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E0E0E"/>
                </a:solidFill>
                <a:latin typeface="Sen"/>
              </a:rPr>
              <a:t>Half product, half execution —</a:t>
            </a:r>
          </a:p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E0E0E"/>
                </a:solidFill>
                <a:latin typeface="Sen"/>
              </a:rPr>
              <a:t>$2.0K cash out of pocket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059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Product (AWD stock)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245059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0" y="2450592"/>
            <a:ext cx="6320790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245059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$1,975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1635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Labor (NYC + Emma)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81635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2816352"/>
            <a:ext cx="1824228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81635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$570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Printing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318211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3182112"/>
            <a:ext cx="1280160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318211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4787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Packaging (bags)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354787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3547872"/>
            <a:ext cx="1152144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354787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$360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1363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Contingency ~8%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391363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3240" y="3913632"/>
            <a:ext cx="992124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91363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$310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7939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Booth &amp; 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427939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63240" y="4279392"/>
            <a:ext cx="752094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27939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$235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64515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Sen"/>
              </a:rPr>
              <a:t>Logistics (US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64515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4645152"/>
            <a:ext cx="480060" cy="219456"/>
          </a:xfrm>
          <a:prstGeom prst="rect">
            <a:avLst/>
          </a:prstGeom>
          <a:solidFill>
            <a:srgbClr val="713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464515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E0E0E"/>
                </a:solidFill>
                <a:latin typeface="Sen"/>
              </a:rPr>
              <a:t>$150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1091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trike="sngStrike">
                <a:solidFill>
                  <a:srgbClr val="8A8171"/>
                </a:solidFill>
                <a:latin typeface="Sen"/>
              </a:rPr>
              <a:t>Coconut station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501091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3240" y="5010912"/>
            <a:ext cx="3200400" cy="219456"/>
          </a:xfrm>
          <a:prstGeom prst="rect">
            <a:avLst/>
          </a:prstGeom>
          <a:solidFill>
            <a:srgbClr val="B6A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501091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trike="sngStrike">
                <a:solidFill>
                  <a:srgbClr val="8A8171"/>
                </a:solidFill>
                <a:latin typeface="Sen"/>
              </a:rPr>
              <a:t>−$1,000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376672"/>
            <a:ext cx="2286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trike="sngStrike">
                <a:solidFill>
                  <a:srgbClr val="8A8171"/>
                </a:solidFill>
                <a:latin typeface="Sen"/>
              </a:rPr>
              <a:t>Paid creator fees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5376672"/>
            <a:ext cx="6400800" cy="219456"/>
          </a:xfrm>
          <a:prstGeom prst="rect">
            <a:avLst/>
          </a:prstGeom>
          <a:solidFill>
            <a:srgbClr val="EFE8D6"/>
          </a:solidFill>
          <a:ln w="635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63240" y="5376672"/>
            <a:ext cx="1600200" cy="219456"/>
          </a:xfrm>
          <a:prstGeom prst="rect">
            <a:avLst/>
          </a:prstGeom>
          <a:solidFill>
            <a:srgbClr val="B6A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5376672"/>
            <a:ext cx="14173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 strike="sngStrike">
                <a:solidFill>
                  <a:srgbClr val="8A8171"/>
                </a:solidFill>
                <a:latin typeface="Sen"/>
              </a:rPr>
              <a:t>−$500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52160"/>
            <a:ext cx="1083564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Total $4,000 · product unit costs are placeholder COGS pending Finance — cash-only view ≈ $2,025. Struck lines = cut to fit. </a:t>
            </a:r>
            <a:r>
              <a:rPr sz="1050" b="1" i="0">
                <a:solidFill>
                  <a:srgbClr val="3A3833"/>
                </a:solidFill>
                <a:latin typeface="Sen"/>
              </a:rPr>
              <a:t>Not included: Glossy's sponsorship package fee</a:t>
            </a:r>
            <a:r>
              <a:rPr sz="1050" b="0" i="0">
                <a:solidFill>
                  <a:srgbClr val="3A3833"/>
                </a:solidFill>
                <a:latin typeface="Sen"/>
              </a:rPr>
              <a:t> — Dylan's formal package (salon space, creator roster, support) arrives after we confirm dates and comes to the board as its own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10 · PEOPLE &amp; RUNWAY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E0E0E"/>
                </a:solidFill>
                <a:latin typeface="Sen"/>
              </a:rPr>
              <a:t>Five people, eight weeks, one date to lock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847088"/>
            <a:ext cx="10835640" cy="0"/>
          </a:xfrm>
          <a:prstGeom prst="line">
            <a:avLst/>
          </a:prstGeom>
          <a:ln w="19050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38528"/>
            <a:ext cx="23774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Sao &amp; Eva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38528"/>
            <a:ext cx="82296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Fly to Austin · handcarry small premium items · salon hosting + aloe station on game day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304288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395728"/>
            <a:ext cx="23774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Emma (Austin)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95728"/>
            <a:ext cx="82296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Rehired — print pickups, sticks, kit assembly, fortune table, load-in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761488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852928"/>
            <a:ext cx="23774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NYC helper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52928"/>
            <a:ext cx="82296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New hire by Aug 15 — bag assembly Sep 9–10, FIT delivery, photo proof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218688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310128"/>
            <a:ext cx="23774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Dylan (Glossy)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10128"/>
            <a:ext cx="82296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Formal concept + package after date confirmation · creator guest list · space + load-in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675887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767327"/>
            <a:ext cx="23774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0E0E"/>
                </a:solidFill>
                <a:latin typeface="Sen"/>
              </a:rPr>
              <a:t>Buyer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67327"/>
            <a:ext cx="82296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THE gate: new-miniset lead time by Jul 24 · scarf qty by Jul 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133087"/>
            <a:ext cx="10835640" cy="0"/>
          </a:xfrm>
          <a:prstGeom prst="line">
            <a:avLst/>
          </a:prstGeom>
          <a:ln w="9525">
            <a:solidFill>
              <a:srgbClr val="D8CC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" y="48006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49103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8464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Confirm Sep 12 with Dylan + share concept · Buyer gate · fortune texts · orders placed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84448" y="4800600"/>
            <a:ext cx="2615183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84448" y="49103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AUG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518464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Dylan's package + creator list locked · NYC hire · AWD removals (Aug 17) · all lands by Aug 28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83096" y="48006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3096" y="49103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SEP 9–11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518464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Bags assembled + delivered NYC · Austin prep, salon walkthrough, Emma brief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81744" y="480060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81744" y="4910328"/>
            <a:ext cx="26151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713F21"/>
                </a:solidFill>
                <a:latin typeface="Sen"/>
              </a:rPr>
              <a:t>SEP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5184648"/>
            <a:ext cx="261518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Salon 10:00 → booth → dusk kickoff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713F21"/>
                </a:solidFill>
                <a:latin typeface="Sen"/>
              </a:rPr>
              <a:t>11 · THE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777240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E0E0E"/>
                </a:solidFill>
                <a:latin typeface="Sen"/>
              </a:rPr>
              <a:t>Two events, one content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685800"/>
            <a:ext cx="2743200" cy="1965960"/>
          </a:xfrm>
          <a:prstGeom prst="rect">
            <a:avLst/>
          </a:prstGeom>
          <a:solidFill>
            <a:srgbClr val="F3EAD8"/>
          </a:solidFill>
          <a:ln w="15875">
            <a:solidFill>
              <a:srgbClr val="B6A18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6A188"/>
                </a:solidFill>
                <a:latin typeface="Sen"/>
              </a:rPr>
              <a:t>＋  </a:t>
            </a:r>
            <a:r>
              <a:rPr sz="800" b="1" spc="160">
                <a:solidFill>
                  <a:srgbClr val="B6A188"/>
                </a:solidFill>
                <a:latin typeface="Sen"/>
              </a:rPr>
              <a:t>IMAGE — MAY EVENT / AI MOCK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7772400" cy="1828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0E0E0E"/>
                </a:solidFill>
                <a:latin typeface="Sen"/>
              </a:rPr>
              <a:t>NYC: </a:t>
            </a:r>
            <a:r>
              <a:rPr sz="1250" b="0" i="0">
                <a:solidFill>
                  <a:srgbClr val="0E0E0E"/>
                </a:solidFill>
                <a:latin typeface="Sen"/>
              </a:rPr>
              <a:t>100 beauty-obsessed households open our ritual next to Fenty — coded voucher booklets trace redemptions to the bag.  </a:t>
            </a:r>
            <a:r>
              <a:rPr sz="1250" b="1" i="0">
                <a:solidFill>
                  <a:srgbClr val="0E0E0E"/>
                </a:solidFill>
                <a:latin typeface="Sen"/>
              </a:rPr>
              <a:t>Austin: </a:t>
            </a:r>
            <a:r>
              <a:rPr sz="1250" b="0" i="0">
                <a:solidFill>
                  <a:srgbClr val="0E0E0E"/>
                </a:solidFill>
                <a:latin typeface="Sen"/>
              </a:rPr>
              <a:t>the salon manufactures creator GRWM content with a story beat no other brand has (the fortune), the booth turns every gifted aloe into a tagged post, and the founder reel format did </a:t>
            </a:r>
            <a:r>
              <a:rPr sz="1250" b="1" i="0">
                <a:solidFill>
                  <a:srgbClr val="0E0E0E"/>
                </a:solidFill>
                <a:latin typeface="Sen"/>
              </a:rPr>
              <a:t>150.7K views</a:t>
            </a:r>
            <a:r>
              <a:rPr sz="1250" b="0" i="0">
                <a:solidFill>
                  <a:srgbClr val="0E0E0E"/>
                </a:solidFill>
                <a:latin typeface="Sen"/>
              </a:rPr>
              <a:t> in June. May precedent: brand mentions </a:t>
            </a:r>
            <a:r>
              <a:rPr sz="1250" b="1" i="0">
                <a:solidFill>
                  <a:srgbClr val="0E0E0E"/>
                </a:solidFill>
                <a:latin typeface="Sen"/>
              </a:rPr>
              <a:t>12.5×</a:t>
            </a:r>
            <a:r>
              <a:rPr sz="1250" b="0" i="0">
                <a:solidFill>
                  <a:srgbClr val="0E0E0E"/>
                </a:solidFill>
                <a:latin typeface="Sen"/>
              </a:rPr>
              <a:t> in a month.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429768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440740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0E0E"/>
                </a:solidFill>
                <a:latin typeface="Sen"/>
              </a:rPr>
              <a:t>5–8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2615184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creator GRWM sets from the salon (Glossy roster)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4297680"/>
            <a:ext cx="2615183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84448" y="440740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0E0E"/>
                </a:solidFill>
                <a:latin typeface="Sen"/>
              </a:rP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4773168"/>
            <a:ext cx="2615184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tagged IG posts &amp; stories from the booth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83096" y="429768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83096" y="440740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0E0E"/>
                </a:solidFill>
                <a:latin typeface="Sen"/>
              </a:rPr>
              <a:t>250–400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773168"/>
            <a:ext cx="2615184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emails via fortune QR · 2 trackable codes to Sep 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81744" y="4297680"/>
            <a:ext cx="2615184" cy="0"/>
          </a:xfrm>
          <a:prstGeom prst="line">
            <a:avLst/>
          </a:prstGeom>
          <a:ln w="22225">
            <a:solidFill>
              <a:srgbClr val="0E0E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81744" y="4407408"/>
            <a:ext cx="26151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0E0E"/>
                </a:solidFill>
                <a:latin typeface="Sen"/>
              </a:rPr>
              <a:t>40–60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4773168"/>
            <a:ext cx="2615184" cy="1005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A3833"/>
                </a:solidFill>
                <a:latin typeface="Sen"/>
              </a:rPr>
              <a:t>raw clips → ads + organic + Q3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B6A188"/>
                </a:solidFill>
                <a:latin typeface="Sen"/>
              </a:rPr>
              <a:t>12 · DECISIONS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8E8"/>
                </a:solidFill>
                <a:latin typeface="Sen"/>
              </a:rPr>
              <a:t>Five answers unlock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2615184" cy="2148840"/>
          </a:xfrm>
          <a:prstGeom prst="rect">
            <a:avLst/>
          </a:prstGeom>
          <a:noFill/>
          <a:ln w="15875">
            <a:solidFill>
              <a:srgbClr val="B6A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40280"/>
            <a:ext cx="2212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>
                <a:solidFill>
                  <a:srgbClr val="B6A188"/>
                </a:solidFill>
                <a:latin typeface="Sen"/>
              </a:rPr>
              <a:t>US → DYLAN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42032"/>
            <a:ext cx="2212848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8E8"/>
                </a:solidFill>
                <a:latin typeface="Sen"/>
              </a:rPr>
              <a:t>Confirm Sep 12 + share the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67328"/>
            <a:ext cx="2212848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6A188"/>
                </a:solidFill>
                <a:latin typeface="Sen"/>
              </a:rPr>
              <a:t>this week — unlocks his formal package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2011680"/>
            <a:ext cx="2615184" cy="2148840"/>
          </a:xfrm>
          <a:prstGeom prst="rect">
            <a:avLst/>
          </a:prstGeom>
          <a:noFill/>
          <a:ln w="15875">
            <a:solidFill>
              <a:srgbClr val="B6A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5615" y="2240280"/>
            <a:ext cx="2212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>
                <a:solidFill>
                  <a:srgbClr val="B6A188"/>
                </a:solidFill>
                <a:latin typeface="Sen"/>
              </a:rPr>
              <a:t>BUYER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5" y="2542032"/>
            <a:ext cx="2212848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8E8"/>
                </a:solidFill>
                <a:latin typeface="Sen"/>
              </a:rPr>
              <a:t>New miniset + loofah 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3767328"/>
            <a:ext cx="2212848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6A188"/>
                </a:solidFill>
                <a:latin typeface="Sen"/>
              </a:rPr>
              <a:t>by Jul 24 — Plan A/B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3096" y="2011680"/>
            <a:ext cx="2615184" cy="2148840"/>
          </a:xfrm>
          <a:prstGeom prst="rect">
            <a:avLst/>
          </a:prstGeom>
          <a:noFill/>
          <a:ln w="15875">
            <a:solidFill>
              <a:srgbClr val="B6A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2240280"/>
            <a:ext cx="2212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>
                <a:solidFill>
                  <a:srgbClr val="B6A188"/>
                </a:solidFill>
                <a:latin typeface="Sen"/>
              </a:rPr>
              <a:t>GLOSSY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542032"/>
            <a:ext cx="2212848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8E8"/>
                </a:solidFill>
                <a:latin typeface="Sen"/>
              </a:rPr>
              <a:t>NYC bag count + FIT load-in · salon package &amp;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3767328"/>
            <a:ext cx="2212848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6A188"/>
                </a:solidFill>
                <a:latin typeface="Sen"/>
              </a:rPr>
              <a:t>by Jul 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81744" y="2011680"/>
            <a:ext cx="2615184" cy="2148840"/>
          </a:xfrm>
          <a:prstGeom prst="rect">
            <a:avLst/>
          </a:prstGeom>
          <a:noFill/>
          <a:ln w="15875">
            <a:solidFill>
              <a:srgbClr val="B6A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2240280"/>
            <a:ext cx="2212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>
                <a:solidFill>
                  <a:srgbClr val="B6A188"/>
                </a:solidFill>
                <a:latin typeface="Sen"/>
              </a:rPr>
              <a:t>BRAND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2542032"/>
            <a:ext cx="2212848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8E8"/>
                </a:solidFill>
                <a:latin typeface="Sen"/>
              </a:rPr>
              <a:t>Approve $4K split · hire NYC helper · confirm Emma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3767328"/>
            <a:ext cx="2212848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6A188"/>
                </a:solidFill>
                <a:latin typeface="Sen"/>
              </a:rPr>
              <a:t>by Aug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6A188"/>
                </a:solidFill>
                <a:latin typeface="Playfair Display"/>
              </a:rPr>
              <a:t>Rooted in Heritage. Empowered for Modernity.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